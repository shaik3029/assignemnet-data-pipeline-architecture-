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69" r:id="rId2"/>
    <p:sldId id="257" r:id="rId3"/>
    <p:sldId id="258" r:id="rId4"/>
    <p:sldId id="259" r:id="rId5"/>
    <p:sldId id="260" r:id="rId6"/>
    <p:sldId id="268" r:id="rId7"/>
    <p:sldId id="270" r:id="rId8"/>
    <p:sldId id="261" r:id="rId9"/>
    <p:sldId id="262" r:id="rId10"/>
    <p:sldId id="263" r:id="rId11"/>
    <p:sldId id="264" r:id="rId12"/>
    <p:sldId id="265" r:id="rId13"/>
    <p:sldId id="267" r:id="rId14"/>
    <p:sldId id="271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430C15-B56B-49A3-A2B4-F1B03DEC575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0CD62B5-1B27-4C50-89A5-CEB2802293D3}">
      <dgm:prSet phldrT="[Text]" phldr="0"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         Selected Source: Google Meet</a:t>
          </a:r>
        </a:p>
      </dgm:t>
    </dgm:pt>
    <dgm:pt modelId="{8A9C5B4F-DEFE-4960-AA41-F2462CDC43DC}" type="sibTrans" cxnId="{497649DD-4D2A-4C08-8934-D1B0EB6A8322}">
      <dgm:prSet/>
      <dgm:spPr/>
      <dgm:t>
        <a:bodyPr/>
        <a:lstStyle/>
        <a:p>
          <a:endParaRPr lang="en-IN"/>
        </a:p>
      </dgm:t>
    </dgm:pt>
    <dgm:pt modelId="{B5AC92A3-D3E9-4975-8256-C7C70AC27F2A}" type="parTrans" cxnId="{497649DD-4D2A-4C08-8934-D1B0EB6A8322}">
      <dgm:prSet/>
      <dgm:spPr/>
      <dgm:t>
        <a:bodyPr/>
        <a:lstStyle/>
        <a:p>
          <a:endParaRPr lang="en-IN"/>
        </a:p>
      </dgm:t>
    </dgm:pt>
    <dgm:pt modelId="{D1AF2F83-6214-444A-8CBD-8AEAB2E2D518}" type="pres">
      <dgm:prSet presAssocID="{F3430C15-B56B-49A3-A2B4-F1B03DEC575E}" presName="linear" presStyleCnt="0">
        <dgm:presLayoutVars>
          <dgm:animLvl val="lvl"/>
          <dgm:resizeHandles val="exact"/>
        </dgm:presLayoutVars>
      </dgm:prSet>
      <dgm:spPr/>
    </dgm:pt>
    <dgm:pt modelId="{EBC1BD1F-2CC7-4582-AA14-BC709689ADA8}" type="pres">
      <dgm:prSet presAssocID="{20CD62B5-1B27-4C50-89A5-CEB2802293D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5D78048-B7BA-4967-AAFD-9F78F2576062}" type="presOf" srcId="{20CD62B5-1B27-4C50-89A5-CEB2802293D3}" destId="{EBC1BD1F-2CC7-4582-AA14-BC709689ADA8}" srcOrd="0" destOrd="0" presId="urn:microsoft.com/office/officeart/2005/8/layout/vList2"/>
    <dgm:cxn modelId="{CB95B083-5DC6-426A-AE51-56395CA1EA43}" type="presOf" srcId="{F3430C15-B56B-49A3-A2B4-F1B03DEC575E}" destId="{D1AF2F83-6214-444A-8CBD-8AEAB2E2D518}" srcOrd="0" destOrd="0" presId="urn:microsoft.com/office/officeart/2005/8/layout/vList2"/>
    <dgm:cxn modelId="{497649DD-4D2A-4C08-8934-D1B0EB6A8322}" srcId="{F3430C15-B56B-49A3-A2B4-F1B03DEC575E}" destId="{20CD62B5-1B27-4C50-89A5-CEB2802293D3}" srcOrd="0" destOrd="0" parTransId="{B5AC92A3-D3E9-4975-8256-C7C70AC27F2A}" sibTransId="{8A9C5B4F-DEFE-4960-AA41-F2462CDC43DC}"/>
    <dgm:cxn modelId="{7B8B3094-257E-4006-891E-F52C38B2B480}" type="presParOf" srcId="{D1AF2F83-6214-444A-8CBD-8AEAB2E2D518}" destId="{EBC1BD1F-2CC7-4582-AA14-BC709689ADA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18F0E0D-9308-485F-A4D8-C1A86AA18ED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7940011-1A80-45AF-98B7-96AA27BAD61F}">
      <dgm:prSet phldrT="[Text]" phldr="0"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               Logical Architecture: Google Meet</a:t>
          </a:r>
        </a:p>
      </dgm:t>
    </dgm:pt>
    <dgm:pt modelId="{A35C1155-0CA9-459F-8E5B-E1CC93820514}" type="parTrans" cxnId="{CB43D0D3-3850-461F-9013-5F531E420C4B}">
      <dgm:prSet/>
      <dgm:spPr/>
      <dgm:t>
        <a:bodyPr/>
        <a:lstStyle/>
        <a:p>
          <a:endParaRPr lang="en-IN"/>
        </a:p>
      </dgm:t>
    </dgm:pt>
    <dgm:pt modelId="{3D236C17-B6C6-4177-8A82-34558A8FE4FF}" type="sibTrans" cxnId="{CB43D0D3-3850-461F-9013-5F531E420C4B}">
      <dgm:prSet/>
      <dgm:spPr/>
      <dgm:t>
        <a:bodyPr/>
        <a:lstStyle/>
        <a:p>
          <a:endParaRPr lang="en-IN"/>
        </a:p>
      </dgm:t>
    </dgm:pt>
    <dgm:pt modelId="{0ABF6A62-87E1-41A7-9BC7-A4852E0EA1B7}" type="pres">
      <dgm:prSet presAssocID="{418F0E0D-9308-485F-A4D8-C1A86AA18ED9}" presName="linear" presStyleCnt="0">
        <dgm:presLayoutVars>
          <dgm:animLvl val="lvl"/>
          <dgm:resizeHandles val="exact"/>
        </dgm:presLayoutVars>
      </dgm:prSet>
      <dgm:spPr/>
    </dgm:pt>
    <dgm:pt modelId="{7E13663D-7B2F-41D6-A4FF-5ECC5D1502B6}" type="pres">
      <dgm:prSet presAssocID="{C7940011-1A80-45AF-98B7-96AA27BAD61F}" presName="parentText" presStyleLbl="node1" presStyleIdx="0" presStyleCnt="1" custLinFactNeighborX="1072" custLinFactNeighborY="5942">
        <dgm:presLayoutVars>
          <dgm:chMax val="0"/>
          <dgm:bulletEnabled val="1"/>
        </dgm:presLayoutVars>
      </dgm:prSet>
      <dgm:spPr/>
    </dgm:pt>
  </dgm:ptLst>
  <dgm:cxnLst>
    <dgm:cxn modelId="{EBFC3877-16A2-4996-A1E7-20B475DBDB7C}" type="presOf" srcId="{418F0E0D-9308-485F-A4D8-C1A86AA18ED9}" destId="{0ABF6A62-87E1-41A7-9BC7-A4852E0EA1B7}" srcOrd="0" destOrd="0" presId="urn:microsoft.com/office/officeart/2005/8/layout/vList2"/>
    <dgm:cxn modelId="{F94D3884-6CEE-4554-A799-C3680C7E73FB}" type="presOf" srcId="{C7940011-1A80-45AF-98B7-96AA27BAD61F}" destId="{7E13663D-7B2F-41D6-A4FF-5ECC5D1502B6}" srcOrd="0" destOrd="0" presId="urn:microsoft.com/office/officeart/2005/8/layout/vList2"/>
    <dgm:cxn modelId="{CB43D0D3-3850-461F-9013-5F531E420C4B}" srcId="{418F0E0D-9308-485F-A4D8-C1A86AA18ED9}" destId="{C7940011-1A80-45AF-98B7-96AA27BAD61F}" srcOrd="0" destOrd="0" parTransId="{A35C1155-0CA9-459F-8E5B-E1CC93820514}" sibTransId="{3D236C17-B6C6-4177-8A82-34558A8FE4FF}"/>
    <dgm:cxn modelId="{A961F89B-EC2D-447E-B3C6-3898353501E0}" type="presParOf" srcId="{0ABF6A62-87E1-41A7-9BC7-A4852E0EA1B7}" destId="{7E13663D-7B2F-41D6-A4FF-5ECC5D1502B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18F0E0D-9308-485F-A4D8-C1A86AA18ED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B7EDAF2-514D-4451-944C-D6F064491112}">
      <dgm:prSet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      Technology Mapping: Google Meet</a:t>
          </a:r>
        </a:p>
      </dgm:t>
    </dgm:pt>
    <dgm:pt modelId="{550D6237-A0A4-4667-A70B-7130D05FAB5C}" type="parTrans" cxnId="{D7AB417F-AF9E-45EE-98C8-AD1D62E0AD4C}">
      <dgm:prSet/>
      <dgm:spPr/>
      <dgm:t>
        <a:bodyPr/>
        <a:lstStyle/>
        <a:p>
          <a:endParaRPr lang="en-IN"/>
        </a:p>
      </dgm:t>
    </dgm:pt>
    <dgm:pt modelId="{66753BE8-CA3E-4472-B124-BEAAA47A51F3}" type="sibTrans" cxnId="{D7AB417F-AF9E-45EE-98C8-AD1D62E0AD4C}">
      <dgm:prSet/>
      <dgm:spPr/>
      <dgm:t>
        <a:bodyPr/>
        <a:lstStyle/>
        <a:p>
          <a:endParaRPr lang="en-IN"/>
        </a:p>
      </dgm:t>
    </dgm:pt>
    <dgm:pt modelId="{0ABF6A62-87E1-41A7-9BC7-A4852E0EA1B7}" type="pres">
      <dgm:prSet presAssocID="{418F0E0D-9308-485F-A4D8-C1A86AA18ED9}" presName="linear" presStyleCnt="0">
        <dgm:presLayoutVars>
          <dgm:animLvl val="lvl"/>
          <dgm:resizeHandles val="exact"/>
        </dgm:presLayoutVars>
      </dgm:prSet>
      <dgm:spPr/>
    </dgm:pt>
    <dgm:pt modelId="{E6B2F90D-FB09-4A93-A412-84408D2CE60D}" type="pres">
      <dgm:prSet presAssocID="{0B7EDAF2-514D-4451-944C-D6F064491112}" presName="parentText" presStyleLbl="node1" presStyleIdx="0" presStyleCnt="1" custScaleX="70992">
        <dgm:presLayoutVars>
          <dgm:chMax val="0"/>
          <dgm:bulletEnabled val="1"/>
        </dgm:presLayoutVars>
      </dgm:prSet>
      <dgm:spPr/>
    </dgm:pt>
  </dgm:ptLst>
  <dgm:cxnLst>
    <dgm:cxn modelId="{EBFC3877-16A2-4996-A1E7-20B475DBDB7C}" type="presOf" srcId="{418F0E0D-9308-485F-A4D8-C1A86AA18ED9}" destId="{0ABF6A62-87E1-41A7-9BC7-A4852E0EA1B7}" srcOrd="0" destOrd="0" presId="urn:microsoft.com/office/officeart/2005/8/layout/vList2"/>
    <dgm:cxn modelId="{D7AB417F-AF9E-45EE-98C8-AD1D62E0AD4C}" srcId="{418F0E0D-9308-485F-A4D8-C1A86AA18ED9}" destId="{0B7EDAF2-514D-4451-944C-D6F064491112}" srcOrd="0" destOrd="0" parTransId="{550D6237-A0A4-4667-A70B-7130D05FAB5C}" sibTransId="{66753BE8-CA3E-4472-B124-BEAAA47A51F3}"/>
    <dgm:cxn modelId="{5AEC21A2-2233-408E-96E0-0ED3A93C447D}" type="presOf" srcId="{0B7EDAF2-514D-4451-944C-D6F064491112}" destId="{E6B2F90D-FB09-4A93-A412-84408D2CE60D}" srcOrd="0" destOrd="0" presId="urn:microsoft.com/office/officeart/2005/8/layout/vList2"/>
    <dgm:cxn modelId="{ED0F967B-35D6-4093-BE82-4525BB12AE97}" type="presParOf" srcId="{0ABF6A62-87E1-41A7-9BC7-A4852E0EA1B7}" destId="{E6B2F90D-FB09-4A93-A412-84408D2CE60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18F0E0D-9308-485F-A4D8-C1A86AA18ED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B7EDAF2-514D-4451-944C-D6F064491112}">
      <dgm:prSet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      Technology Mapping: UPI Transaction Analytics</a:t>
          </a:r>
        </a:p>
      </dgm:t>
    </dgm:pt>
    <dgm:pt modelId="{66753BE8-CA3E-4472-B124-BEAAA47A51F3}" type="sibTrans" cxnId="{D7AB417F-AF9E-45EE-98C8-AD1D62E0AD4C}">
      <dgm:prSet/>
      <dgm:spPr/>
      <dgm:t>
        <a:bodyPr/>
        <a:lstStyle/>
        <a:p>
          <a:endParaRPr lang="en-IN"/>
        </a:p>
      </dgm:t>
    </dgm:pt>
    <dgm:pt modelId="{550D6237-A0A4-4667-A70B-7130D05FAB5C}" type="parTrans" cxnId="{D7AB417F-AF9E-45EE-98C8-AD1D62E0AD4C}">
      <dgm:prSet/>
      <dgm:spPr/>
      <dgm:t>
        <a:bodyPr/>
        <a:lstStyle/>
        <a:p>
          <a:endParaRPr lang="en-IN"/>
        </a:p>
      </dgm:t>
    </dgm:pt>
    <dgm:pt modelId="{0ABF6A62-87E1-41A7-9BC7-A4852E0EA1B7}" type="pres">
      <dgm:prSet presAssocID="{418F0E0D-9308-485F-A4D8-C1A86AA18ED9}" presName="linear" presStyleCnt="0">
        <dgm:presLayoutVars>
          <dgm:animLvl val="lvl"/>
          <dgm:resizeHandles val="exact"/>
        </dgm:presLayoutVars>
      </dgm:prSet>
      <dgm:spPr/>
    </dgm:pt>
    <dgm:pt modelId="{E6B2F90D-FB09-4A93-A412-84408D2CE60D}" type="pres">
      <dgm:prSet presAssocID="{0B7EDAF2-514D-4451-944C-D6F064491112}" presName="parentText" presStyleLbl="node1" presStyleIdx="0" presStyleCnt="1" custScaleX="70992">
        <dgm:presLayoutVars>
          <dgm:chMax val="0"/>
          <dgm:bulletEnabled val="1"/>
        </dgm:presLayoutVars>
      </dgm:prSet>
      <dgm:spPr/>
    </dgm:pt>
  </dgm:ptLst>
  <dgm:cxnLst>
    <dgm:cxn modelId="{EBFC3877-16A2-4996-A1E7-20B475DBDB7C}" type="presOf" srcId="{418F0E0D-9308-485F-A4D8-C1A86AA18ED9}" destId="{0ABF6A62-87E1-41A7-9BC7-A4852E0EA1B7}" srcOrd="0" destOrd="0" presId="urn:microsoft.com/office/officeart/2005/8/layout/vList2"/>
    <dgm:cxn modelId="{D7AB417F-AF9E-45EE-98C8-AD1D62E0AD4C}" srcId="{418F0E0D-9308-485F-A4D8-C1A86AA18ED9}" destId="{0B7EDAF2-514D-4451-944C-D6F064491112}" srcOrd="0" destOrd="0" parTransId="{550D6237-A0A4-4667-A70B-7130D05FAB5C}" sibTransId="{66753BE8-CA3E-4472-B124-BEAAA47A51F3}"/>
    <dgm:cxn modelId="{5AEC21A2-2233-408E-96E0-0ED3A93C447D}" type="presOf" srcId="{0B7EDAF2-514D-4451-944C-D6F064491112}" destId="{E6B2F90D-FB09-4A93-A412-84408D2CE60D}" srcOrd="0" destOrd="0" presId="urn:microsoft.com/office/officeart/2005/8/layout/vList2"/>
    <dgm:cxn modelId="{ED0F967B-35D6-4093-BE82-4525BB12AE97}" type="presParOf" srcId="{0ABF6A62-87E1-41A7-9BC7-A4852E0EA1B7}" destId="{E6B2F90D-FB09-4A93-A412-84408D2CE60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C1BD1F-2CC7-4582-AA14-BC709689ADA8}">
      <dsp:nvSpPr>
        <dsp:cNvPr id="0" name=""/>
        <dsp:cNvSpPr/>
      </dsp:nvSpPr>
      <dsp:spPr>
        <a:xfrm>
          <a:off x="0" y="2589"/>
          <a:ext cx="7516761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        Selected Source: Google Meet</a:t>
          </a:r>
        </a:p>
      </dsp:txBody>
      <dsp:txXfrm>
        <a:off x="36553" y="39142"/>
        <a:ext cx="7443655" cy="6756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13663D-7B2F-41D6-A4FF-5ECC5D1502B6}">
      <dsp:nvSpPr>
        <dsp:cNvPr id="0" name=""/>
        <dsp:cNvSpPr/>
      </dsp:nvSpPr>
      <dsp:spPr>
        <a:xfrm>
          <a:off x="0" y="12019"/>
          <a:ext cx="8976851" cy="725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              Logical Architecture: Google Meet</a:t>
          </a:r>
        </a:p>
      </dsp:txBody>
      <dsp:txXfrm>
        <a:off x="35411" y="47430"/>
        <a:ext cx="8906029" cy="65457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B2F90D-FB09-4A93-A412-84408D2CE60D}">
      <dsp:nvSpPr>
        <dsp:cNvPr id="0" name=""/>
        <dsp:cNvSpPr/>
      </dsp:nvSpPr>
      <dsp:spPr>
        <a:xfrm>
          <a:off x="1302002" y="10432"/>
          <a:ext cx="6372846" cy="608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     Technology Mapping: Google Meet</a:t>
          </a:r>
        </a:p>
      </dsp:txBody>
      <dsp:txXfrm>
        <a:off x="1331702" y="40132"/>
        <a:ext cx="6313446" cy="549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B2F90D-FB09-4A93-A412-84408D2CE60D}">
      <dsp:nvSpPr>
        <dsp:cNvPr id="0" name=""/>
        <dsp:cNvSpPr/>
      </dsp:nvSpPr>
      <dsp:spPr>
        <a:xfrm>
          <a:off x="1302002" y="30059"/>
          <a:ext cx="6372846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     Technology Mapping: UPI Transaction Analytics</a:t>
          </a:r>
        </a:p>
      </dsp:txBody>
      <dsp:txXfrm>
        <a:off x="1338555" y="66612"/>
        <a:ext cx="6299740" cy="6756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30925-8547-D441-A257-C92E306BC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AC82CD-8F0C-77A2-97EF-996E6933CF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F286E-CB43-18AE-F694-02D29FE5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FEF4-DD03-4F49-BE89-4B5CB053C781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827FD-1B0C-44E4-3C50-7A87406EA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56C7A-8844-E5D9-9CA7-49BACA7F3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6414-515C-4919-81F2-C1AA614CF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29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741EE-6E96-617F-E822-9CDF62F42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56A85-E7AE-5423-EB38-657499971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19B67-1755-F684-6CC1-408BF55FD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FEF4-DD03-4F49-BE89-4B5CB053C781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9D9AF-F631-6E64-370A-E693AF2A1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62E30-F0BD-2AE0-A7F4-139BE196B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6414-515C-4919-81F2-C1AA614CF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832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95710-18C9-5A15-829D-C9992D3F0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71F7B-F974-9054-07E3-DAE82F736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1CFFC-4D9A-A77F-8D93-B0C4C1F15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FEF4-DD03-4F49-BE89-4B5CB053C781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45530-DA35-D966-7527-9D7E30698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B302F-4C6F-D45D-BC94-BA8ADCE3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6414-515C-4919-81F2-C1AA614CF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132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47F4C-CC94-852B-FFB9-DB664B5EC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DA01C-F616-EA13-C2FC-0072805264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6449B-DC69-540D-C3FF-91E7634CE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D21DF-29F3-7C37-5649-060A609D2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FEF4-DD03-4F49-BE89-4B5CB053C781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154E1D-9C0B-ED0F-BCD5-71ED343B1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28A56-0E38-76E7-047F-23799E88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6414-515C-4919-81F2-C1AA614CF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125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EEF98-99D4-8C90-4C61-C54D60A2E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3AB4B-2DF4-EF75-D1C9-E362443E3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AEBC89-57AC-85F6-4354-0FAE81585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88A66-6334-65F9-C154-91058BD717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C44E85-23D6-E867-5FF1-0F2B0E07B0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3AF2C7-8CC0-0680-D768-E519AC829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FEF4-DD03-4F49-BE89-4B5CB053C781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96BBA2-66ED-D889-8CBE-F2EE87F5B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F48E15-05F1-0C75-2C04-1D6192CD7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6414-515C-4919-81F2-C1AA614CF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484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0AB71-C9CD-B888-926C-C6A4613F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6C2EEF-15EA-3EF7-E81A-5F9B9F2E8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FEF4-DD03-4F49-BE89-4B5CB053C781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8023DB-CF4C-A9FB-908C-D8DA501BC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0870BD-B7E5-2255-2C78-1828B9DA6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6414-515C-4919-81F2-C1AA614CF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549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60B0BB-5F7A-1BB8-129F-FD20133C3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FEF4-DD03-4F49-BE89-4B5CB053C781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C94467-09C3-0924-5D8D-74227186D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E57A0-13BE-EFF1-465F-5D4C5F49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6414-515C-4919-81F2-C1AA614CF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684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F8538-0D89-82D3-A1FA-A247F82FA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C671D-7DE7-B966-4164-5CA21DCD6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3E50D-ACF6-2240-6D42-49DF08A8A8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BFAEF3-2B48-57DA-87BF-D9BD0EA71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FEF4-DD03-4F49-BE89-4B5CB053C781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6E264-A01F-7E7B-1F7E-17A28B987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ACA388-E393-A135-CD1F-DA429F5C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6414-515C-4919-81F2-C1AA614CF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738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56C72-E385-8243-8553-C3039583B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52C021-D552-8B54-F503-468F458010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30FF4A-4E1B-6B14-0CEE-BF18A1714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1F0894-83AC-6AC1-916C-6BB8BF942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FEF4-DD03-4F49-BE89-4B5CB053C781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0FD6A-4091-B9E1-8429-11354D728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3BD39-F7BD-0A92-196F-D681004F4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6414-515C-4919-81F2-C1AA614CF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18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2ABC4-B295-5828-91DC-3EAFFBA88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E46FC2-DB26-D00E-F961-C4E477B0B3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2DC5E-D758-34E8-CE8D-31692012B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FEF4-DD03-4F49-BE89-4B5CB053C781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D2B86-FFDE-3CEF-3CE5-20684F533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04CA5-02D2-B11F-86FF-F7E0BF6B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6414-515C-4919-81F2-C1AA614CF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466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D3C145-3240-C0EB-122E-217FDE032D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EC91-0EB0-A80A-5ED7-E11B6F338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65D87-7B49-9A45-1658-BBF0DAAF5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FEF4-DD03-4F49-BE89-4B5CB053C781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AA3D7-8CC0-9CEE-AA81-3144E9B71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B3C67-EC59-BBDB-691D-6AC3727F1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6414-515C-4919-81F2-C1AA614CF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574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225C61-5F09-6104-3ED8-A9B935FFC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32E2A-7897-FAD8-B613-85F21BA55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8AAA3-BFC7-5C8E-2F0F-60BB0F3D9E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2FEF4-DD03-4F49-BE89-4B5CB053C781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D798E-4008-CC16-AFE6-5A7C560BA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EA59A-1E1A-3A35-E087-534233CD6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46414-515C-4919-81F2-C1AA614CF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781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96170E-ADC7-9FC0-21AB-EE03EE423829}"/>
              </a:ext>
            </a:extLst>
          </p:cNvPr>
          <p:cNvSpPr txBox="1"/>
          <p:nvPr/>
        </p:nvSpPr>
        <p:spPr>
          <a:xfrm>
            <a:off x="361708" y="358814"/>
            <a:ext cx="73354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kern="100" spc="92" dirty="0">
                <a:latin typeface="Times New Roman" panose="02020603050405020304" pitchFamily="18" charset="0"/>
                <a:ea typeface="Fragment Mono" panose="020B0509030202020204" pitchFamily="34" charset="-122"/>
                <a:cs typeface="Times New Roman" panose="02020603050405020304" pitchFamily="18" charset="0"/>
              </a:rPr>
              <a:t>ASSIGNMENT SUBMISSION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378D68-D8EB-62ED-E9CD-EA3F4CB35E6A}"/>
              </a:ext>
            </a:extLst>
          </p:cNvPr>
          <p:cNvSpPr txBox="1"/>
          <p:nvPr/>
        </p:nvSpPr>
        <p:spPr>
          <a:xfrm>
            <a:off x="361708" y="1100743"/>
            <a:ext cx="8643395" cy="899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6400" b="1" kern="100" spc="-224" dirty="0"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Data Pipeline Designs</a:t>
            </a:r>
            <a:endParaRPr lang="en-US" sz="6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F60F1B-776F-3F3E-A24B-25601BD3256F}"/>
              </a:ext>
            </a:extLst>
          </p:cNvPr>
          <p:cNvSpPr txBox="1"/>
          <p:nvPr/>
        </p:nvSpPr>
        <p:spPr>
          <a:xfrm>
            <a:off x="9537538" y="3252487"/>
            <a:ext cx="22984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SUBUMITTED BY  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Shaik Charan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9EACFF-653A-9D8A-76CE-9FFF9C850FB5}"/>
              </a:ext>
            </a:extLst>
          </p:cNvPr>
          <p:cNvSpPr txBox="1"/>
          <p:nvPr/>
        </p:nvSpPr>
        <p:spPr>
          <a:xfrm>
            <a:off x="5660020" y="3252487"/>
            <a:ext cx="29168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 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Sri. Sachin Chaudhary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SURE ProEd | LinkedIn">
            <a:extLst>
              <a:ext uri="{FF2B5EF4-FFF2-40B4-BE49-F238E27FC236}">
                <a16:creationId xmlns:a16="http://schemas.microsoft.com/office/drawing/2014/main" id="{309FFC14-CDE3-65CE-C917-BB755B186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353" y="0"/>
            <a:ext cx="162877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97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A48C7E2-DD3D-3A69-2DCA-19D820A03C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954928"/>
              </p:ext>
            </p:extLst>
          </p:nvPr>
        </p:nvGraphicFramePr>
        <p:xfrm>
          <a:off x="2245022" y="0"/>
          <a:ext cx="7516761" cy="7539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3CF145C-44ED-9CCA-22EE-4E3724170037}"/>
              </a:ext>
            </a:extLst>
          </p:cNvPr>
          <p:cNvSpPr txBox="1"/>
          <p:nvPr/>
        </p:nvSpPr>
        <p:spPr>
          <a:xfrm>
            <a:off x="353961" y="1133192"/>
            <a:ext cx="8849032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/ Source :  Google Meet 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Produced :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Meeting &amp; Attendance Logs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Meeting ID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Participant ID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ID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Time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Leave Time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Duration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Status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Data Problems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Sessions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User disconnects and rejoins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 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Attendance records may arrive later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Overlapping Time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Participant durations can overlap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attendance and meeting analytics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raw meeting data.</a:t>
            </a:r>
          </a:p>
        </p:txBody>
      </p:sp>
    </p:spTree>
    <p:extLst>
      <p:ext uri="{BB962C8B-B14F-4D97-AF65-F5344CB8AC3E}">
        <p14:creationId xmlns:p14="http://schemas.microsoft.com/office/powerpoint/2010/main" val="2344396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92B4250-8829-4BE1-69C8-0E499CB77B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5880827"/>
              </p:ext>
            </p:extLst>
          </p:nvPr>
        </p:nvGraphicFramePr>
        <p:xfrm>
          <a:off x="1877444" y="0"/>
          <a:ext cx="8976851" cy="7374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9654E6F-6BE1-C775-8DE6-9866842069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5226" y="737419"/>
            <a:ext cx="6735097" cy="6120581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B21C846-954D-9103-7DD7-FA49B7F833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652349"/>
              </p:ext>
            </p:extLst>
          </p:nvPr>
        </p:nvGraphicFramePr>
        <p:xfrm>
          <a:off x="1" y="1005840"/>
          <a:ext cx="5456904" cy="5852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28452">
                  <a:extLst>
                    <a:ext uri="{9D8B030D-6E8A-4147-A177-3AD203B41FA5}">
                      <a16:colId xmlns:a16="http://schemas.microsoft.com/office/drawing/2014/main" val="4063109599"/>
                    </a:ext>
                  </a:extLst>
                </a:gridCol>
                <a:gridCol w="2728452">
                  <a:extLst>
                    <a:ext uri="{9D8B030D-6E8A-4147-A177-3AD203B41FA5}">
                      <a16:colId xmlns:a16="http://schemas.microsoft.com/office/drawing/2014/main" val="21896658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Logical Component</a:t>
                      </a:r>
                      <a:endParaRPr lang="en-IN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Why is this component needed?</a:t>
                      </a:r>
                      <a:endParaRPr lang="en-IN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2182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Meet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Acts as the source where meeting activity is generated.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19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Ingestion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Ensures generated data is collected and brought into the pipeline.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033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Raw Data Storage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Keeps the original data available for reprocessing and verification.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729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Processing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Handles duplicates, late records and incorrect duration calculations.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5460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Analytical Storage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a reliable dataset for reporting and analysis.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0140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Attendance Analytics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Helps teachers/managers monitor attendance and meeting activity.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140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526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5940D4C-26E0-70E3-5F1B-9C8A1DFB28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3059880"/>
              </p:ext>
            </p:extLst>
          </p:nvPr>
        </p:nvGraphicFramePr>
        <p:xfrm>
          <a:off x="1784232" y="14040"/>
          <a:ext cx="8976851" cy="6292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33D9B28-722F-69DF-00D6-AA4334233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748753"/>
              </p:ext>
            </p:extLst>
          </p:nvPr>
        </p:nvGraphicFramePr>
        <p:xfrm>
          <a:off x="6400800" y="1295306"/>
          <a:ext cx="543724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8620">
                  <a:extLst>
                    <a:ext uri="{9D8B030D-6E8A-4147-A177-3AD203B41FA5}">
                      <a16:colId xmlns:a16="http://schemas.microsoft.com/office/drawing/2014/main" val="2564596630"/>
                    </a:ext>
                  </a:extLst>
                </a:gridCol>
                <a:gridCol w="2718620">
                  <a:extLst>
                    <a:ext uri="{9D8B030D-6E8A-4147-A177-3AD203B41FA5}">
                      <a16:colId xmlns:a16="http://schemas.microsoft.com/office/drawing/2014/main" val="1966158848"/>
                    </a:ext>
                  </a:extLst>
                </a:gridCol>
              </a:tblGrid>
              <a:tr h="305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Logical 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6850010"/>
                  </a:ext>
                </a:extLst>
              </a:tr>
              <a:tr h="305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Meet Logs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0032324"/>
                  </a:ext>
                </a:extLst>
              </a:tr>
              <a:tr h="305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Ingestion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/ API Extraction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5919151"/>
                  </a:ext>
                </a:extLst>
              </a:tr>
              <a:tr h="305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Raw Data Storage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Object Storage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3492229"/>
                  </a:ext>
                </a:extLst>
              </a:tr>
              <a:tr h="305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+ Pandas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7900319"/>
                  </a:ext>
                </a:extLst>
              </a:tr>
              <a:tr h="305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Analytical Storage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082492"/>
                  </a:ext>
                </a:extLst>
              </a:tr>
              <a:tr h="305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Consumer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BI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7843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77E741C-2EC7-24CB-6DB5-704A7B07B033}"/>
              </a:ext>
            </a:extLst>
          </p:cNvPr>
          <p:cNvSpPr txBox="1"/>
          <p:nvPr/>
        </p:nvSpPr>
        <p:spPr>
          <a:xfrm>
            <a:off x="6400800" y="784639"/>
            <a:ext cx="6777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→ Technology Mapping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950F51-C054-A7CE-5035-F1E9D0604A5F}"/>
              </a:ext>
            </a:extLst>
          </p:cNvPr>
          <p:cNvSpPr txBox="1"/>
          <p:nvPr/>
        </p:nvSpPr>
        <p:spPr>
          <a:xfrm>
            <a:off x="6400800" y="4282534"/>
            <a:ext cx="5991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these technologies?</a:t>
            </a: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Meet Logs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Provides meeting and attendance data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/ API Extraction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Collects the meeting data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Object Storage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Stores the raw data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+ Pandas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Cleans and transforms the data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Stores processed data for analysis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Creates attendance and meeting reports</a:t>
            </a: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47EC26-F225-DC4F-E123-E7AE31AA7B38}"/>
              </a:ext>
            </a:extLst>
          </p:cNvPr>
          <p:cNvSpPr/>
          <p:nvPr/>
        </p:nvSpPr>
        <p:spPr>
          <a:xfrm>
            <a:off x="1607413" y="1220743"/>
            <a:ext cx="2507226" cy="53094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Meet Logs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35F4F5-CC54-D7E2-12C7-FDD7021F74A6}"/>
              </a:ext>
            </a:extLst>
          </p:cNvPr>
          <p:cNvSpPr/>
          <p:nvPr/>
        </p:nvSpPr>
        <p:spPr>
          <a:xfrm>
            <a:off x="1095887" y="2233757"/>
            <a:ext cx="3530277" cy="4387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/ API Extraction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1DDFE9-9E62-197C-4E77-3409B16C0F04}"/>
              </a:ext>
            </a:extLst>
          </p:cNvPr>
          <p:cNvSpPr/>
          <p:nvPr/>
        </p:nvSpPr>
        <p:spPr>
          <a:xfrm>
            <a:off x="1741439" y="5229179"/>
            <a:ext cx="2200291" cy="53094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868F81-C603-9C38-2D39-B28DE1E2C534}"/>
              </a:ext>
            </a:extLst>
          </p:cNvPr>
          <p:cNvSpPr/>
          <p:nvPr/>
        </p:nvSpPr>
        <p:spPr>
          <a:xfrm>
            <a:off x="1944547" y="6137678"/>
            <a:ext cx="1794076" cy="53094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0A6024-289A-42F5-75F2-FDF6206DE8B0}"/>
              </a:ext>
            </a:extLst>
          </p:cNvPr>
          <p:cNvSpPr/>
          <p:nvPr/>
        </p:nvSpPr>
        <p:spPr>
          <a:xfrm>
            <a:off x="1607413" y="4320681"/>
            <a:ext cx="2507226" cy="53094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+ Pandas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DE601-82DC-0F6F-869F-B3FD1E337290}"/>
              </a:ext>
            </a:extLst>
          </p:cNvPr>
          <p:cNvSpPr/>
          <p:nvPr/>
        </p:nvSpPr>
        <p:spPr>
          <a:xfrm>
            <a:off x="1607413" y="3070453"/>
            <a:ext cx="2507226" cy="9270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Object Storage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B9AAF0A-89A0-CFF1-6403-6D004F95774D}"/>
              </a:ext>
            </a:extLst>
          </p:cNvPr>
          <p:cNvCxnSpPr>
            <a:stCxn id="2" idx="2"/>
            <a:endCxn id="6" idx="0"/>
          </p:cNvCxnSpPr>
          <p:nvPr/>
        </p:nvCxnSpPr>
        <p:spPr>
          <a:xfrm>
            <a:off x="2861026" y="1751685"/>
            <a:ext cx="0" cy="48207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C890534-8F31-E908-DD49-E003CB9C993E}"/>
              </a:ext>
            </a:extLst>
          </p:cNvPr>
          <p:cNvCxnSpPr>
            <a:stCxn id="6" idx="2"/>
            <a:endCxn id="17" idx="0"/>
          </p:cNvCxnSpPr>
          <p:nvPr/>
        </p:nvCxnSpPr>
        <p:spPr>
          <a:xfrm>
            <a:off x="2861026" y="2672552"/>
            <a:ext cx="0" cy="3979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0ECD033-C6DB-7383-808B-39695EF7B672}"/>
              </a:ext>
            </a:extLst>
          </p:cNvPr>
          <p:cNvCxnSpPr>
            <a:stCxn id="17" idx="2"/>
            <a:endCxn id="13" idx="0"/>
          </p:cNvCxnSpPr>
          <p:nvPr/>
        </p:nvCxnSpPr>
        <p:spPr>
          <a:xfrm>
            <a:off x="2861026" y="3997521"/>
            <a:ext cx="0" cy="3231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750DBD0-67AF-5B96-67C0-0BCFF985D8D1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2841585" y="4851623"/>
            <a:ext cx="0" cy="3775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A2E74E9-DBF5-C7F4-FCBC-20783AF5D567}"/>
              </a:ext>
            </a:extLst>
          </p:cNvPr>
          <p:cNvCxnSpPr>
            <a:stCxn id="8" idx="2"/>
            <a:endCxn id="10" idx="0"/>
          </p:cNvCxnSpPr>
          <p:nvPr/>
        </p:nvCxnSpPr>
        <p:spPr>
          <a:xfrm>
            <a:off x="2841585" y="5760121"/>
            <a:ext cx="0" cy="3775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5902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9E83EBE-31E1-6FEC-56EA-D564DCC87730}"/>
              </a:ext>
            </a:extLst>
          </p:cNvPr>
          <p:cNvSpPr/>
          <p:nvPr/>
        </p:nvSpPr>
        <p:spPr>
          <a:xfrm>
            <a:off x="944880" y="1104512"/>
            <a:ext cx="3108960" cy="18520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MEET</a:t>
            </a:r>
          </a:p>
          <a:p>
            <a:pPr algn="ctr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Creates meeting &amp; attendance data.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C560204-B219-A315-3846-705AA6D5121D}"/>
              </a:ext>
            </a:extLst>
          </p:cNvPr>
          <p:cNvSpPr/>
          <p:nvPr/>
        </p:nvSpPr>
        <p:spPr>
          <a:xfrm>
            <a:off x="4861560" y="1104512"/>
            <a:ext cx="3108960" cy="18520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</a:t>
            </a:r>
          </a:p>
          <a:p>
            <a:pPr algn="ctr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Collects meeting and attendance logs.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D4A8F23-1E5D-7C9F-296A-C455F7E425EA}"/>
              </a:ext>
            </a:extLst>
          </p:cNvPr>
          <p:cNvSpPr/>
          <p:nvPr/>
        </p:nvSpPr>
        <p:spPr>
          <a:xfrm>
            <a:off x="8778240" y="1104512"/>
            <a:ext cx="3108960" cy="18520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DATA STORAGE</a:t>
            </a:r>
          </a:p>
          <a:p>
            <a:pPr algn="ctr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Preserve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original meeting records.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18FD03C-1633-970E-1427-9E9AA7B5455C}"/>
              </a:ext>
            </a:extLst>
          </p:cNvPr>
          <p:cNvSpPr/>
          <p:nvPr/>
        </p:nvSpPr>
        <p:spPr>
          <a:xfrm>
            <a:off x="944880" y="3672840"/>
            <a:ext cx="3108960" cy="18520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</a:p>
          <a:p>
            <a:pPr algn="ctr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Refine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Cleans, validates &amp; transforms data.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DE70E4-72B4-B4E1-EC71-4F0AC7735338}"/>
              </a:ext>
            </a:extLst>
          </p:cNvPr>
          <p:cNvSpPr/>
          <p:nvPr/>
        </p:nvSpPr>
        <p:spPr>
          <a:xfrm>
            <a:off x="4861560" y="3672839"/>
            <a:ext cx="3108960" cy="18520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 STORAGE</a:t>
            </a:r>
          </a:p>
          <a:p>
            <a:pPr algn="ctr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Prepare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processed data for analysis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8CEA0AF-92A3-AF1A-F1F1-092834802BF0}"/>
              </a:ext>
            </a:extLst>
          </p:cNvPr>
          <p:cNvSpPr/>
          <p:nvPr/>
        </p:nvSpPr>
        <p:spPr>
          <a:xfrm>
            <a:off x="8778240" y="3672839"/>
            <a:ext cx="3108960" cy="18520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ATTENDANCE ANALYTICS</a:t>
            </a:r>
          </a:p>
          <a:p>
            <a:pPr algn="ctr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reports, dashboards &amp; insights.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21729A-AA9C-D251-C3B5-B7A24EA78113}"/>
              </a:ext>
            </a:extLst>
          </p:cNvPr>
          <p:cNvSpPr txBox="1"/>
          <p:nvPr/>
        </p:nvSpPr>
        <p:spPr>
          <a:xfrm>
            <a:off x="1965960" y="-4197"/>
            <a:ext cx="8564880" cy="707886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sz="4000" kern="100" spc="-100" dirty="0">
                <a:solidFill>
                  <a:schemeClr val="bg1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      Each component has a specific job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094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23E81F-EB28-9BDC-BA2A-BD836D3CA77D}"/>
              </a:ext>
            </a:extLst>
          </p:cNvPr>
          <p:cNvSpPr txBox="1"/>
          <p:nvPr/>
        </p:nvSpPr>
        <p:spPr>
          <a:xfrm>
            <a:off x="3526420" y="115746"/>
            <a:ext cx="5139159" cy="369332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Architecture / Data Flow Explanation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21D2F1-CBC2-6F5A-BA2A-FDE92E917CA8}"/>
              </a:ext>
            </a:extLst>
          </p:cNvPr>
          <p:cNvSpPr txBox="1"/>
          <p:nvPr/>
        </p:nvSpPr>
        <p:spPr>
          <a:xfrm>
            <a:off x="3047036" y="1237201"/>
            <a:ext cx="1003235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ipeline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Google Meet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Meet → Data Ingestion: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Meeting activity enters the pipeline.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 → Raw Storage: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copy is kept for safety.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Storage → Processing: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Records are checked and prepared.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→ Analytical Storage: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Corrected results are made ready for use.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Storage → Analytics: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Final data supports attendance reports.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→ Collect → Preserve → Refine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758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3F56D7-CE65-719D-2A4C-CCB944834C32}"/>
              </a:ext>
            </a:extLst>
          </p:cNvPr>
          <p:cNvSpPr txBox="1"/>
          <p:nvPr/>
        </p:nvSpPr>
        <p:spPr>
          <a:xfrm>
            <a:off x="3048001" y="0"/>
            <a:ext cx="6882063" cy="461665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Research &amp; Design Decisions: Google Meet</a:t>
            </a:r>
            <a:endParaRPr lang="en-IN" sz="24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876E3FA-6007-48F6-260D-29AFD355BA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893905"/>
              </p:ext>
            </p:extLst>
          </p:nvPr>
        </p:nvGraphicFramePr>
        <p:xfrm>
          <a:off x="838200" y="1411705"/>
          <a:ext cx="10515600" cy="41633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5163836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4793335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25135640"/>
                    </a:ext>
                  </a:extLst>
                </a:gridCol>
              </a:tblGrid>
              <a:tr h="597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Source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What I found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Design Decision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327785"/>
                  </a:ext>
                </a:extLst>
              </a:tr>
              <a:tr h="1045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Meet API 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Participant sessions have unique Session IDs and start/end times.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Added Session ID, Join Time and Leave Time to the data model.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3217641"/>
                  </a:ext>
                </a:extLst>
              </a:tr>
              <a:tr h="1045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Meet Participants Guide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participant can have multiple sessions in the same meeting.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Added duplicate/reconnect session handling.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2944191"/>
                  </a:ext>
                </a:extLst>
              </a:tr>
              <a:tr h="1045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Meet REST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Conference and participant records can be retrieved through the API.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 API-based data ingestion.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0633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2416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BFF4A9-1B1D-DBB6-CAA8-151E028E755F}"/>
              </a:ext>
            </a:extLst>
          </p:cNvPr>
          <p:cNvSpPr txBox="1"/>
          <p:nvPr/>
        </p:nvSpPr>
        <p:spPr>
          <a:xfrm>
            <a:off x="3688080" y="1044028"/>
            <a:ext cx="1010412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we handle late data?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late records correctly.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keep raw data?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reprocessing and verification.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we avoid duplicate attendance?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remove duplicate sessions.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we calculate meeting duration?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overlapping sessions correctly.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process data before analytics?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data accuracy.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A64852-00D0-F774-AD96-EB1318F25B7E}"/>
              </a:ext>
            </a:extLst>
          </p:cNvPr>
          <p:cNvSpPr txBox="1"/>
          <p:nvPr/>
        </p:nvSpPr>
        <p:spPr>
          <a:xfrm>
            <a:off x="3436620" y="582363"/>
            <a:ext cx="4869180" cy="461665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Question Log</a:t>
            </a:r>
          </a:p>
        </p:txBody>
      </p:sp>
    </p:spTree>
    <p:extLst>
      <p:ext uri="{BB962C8B-B14F-4D97-AF65-F5344CB8AC3E}">
        <p14:creationId xmlns:p14="http://schemas.microsoft.com/office/powerpoint/2010/main" val="985076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Diffused/>
                    </a14:imgEffect>
                  </a14:imgLayer>
                </a14:imgProps>
              </a:ext>
            </a:extLst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9F4338-A9E1-39C3-8B50-CB56D0617620}"/>
              </a:ext>
            </a:extLst>
          </p:cNvPr>
          <p:cNvGrpSpPr/>
          <p:nvPr/>
        </p:nvGrpSpPr>
        <p:grpSpPr>
          <a:xfrm>
            <a:off x="903212" y="0"/>
            <a:ext cx="10707820" cy="748800"/>
            <a:chOff x="0" y="2589"/>
            <a:chExt cx="7516761" cy="74880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2410186-CDB2-3CBD-5965-F0D8B64D325F}"/>
                </a:ext>
              </a:extLst>
            </p:cNvPr>
            <p:cNvSpPr/>
            <p:nvPr/>
          </p:nvSpPr>
          <p:spPr>
            <a:xfrm>
              <a:off x="0" y="2589"/>
              <a:ext cx="7516761" cy="7488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F1E26BC8-5FE9-EC53-6916-F773478529C5}"/>
                </a:ext>
              </a:extLst>
            </p:cNvPr>
            <p:cNvSpPr txBox="1"/>
            <p:nvPr/>
          </p:nvSpPr>
          <p:spPr>
            <a:xfrm>
              <a:off x="36553" y="39142"/>
              <a:ext cx="7443655" cy="67569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1920" tIns="121920" rIns="121920" bIns="121920" numCol="1" spcCol="1270" anchor="ctr" anchorCtr="0">
              <a:noAutofit/>
            </a:bodyPr>
            <a:lstStyle/>
            <a:p>
              <a:pPr lvl="0" defTabSz="1422400">
                <a:spcBef>
                  <a:spcPct val="0"/>
                </a:spcBef>
                <a:spcAft>
                  <a:spcPct val="35000"/>
                </a:spcAft>
              </a:pPr>
              <a:r>
                <a:rPr lang="en-IN" sz="32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Selected Source: </a:t>
              </a:r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UPI Transaction &amp; Payment Analytics</a:t>
              </a:r>
              <a:endParaRPr lang="en-IN" sz="32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C3D7F5B-D5EA-EE48-825A-F29BF2ED4467}"/>
              </a:ext>
            </a:extLst>
          </p:cNvPr>
          <p:cNvSpPr txBox="1"/>
          <p:nvPr/>
        </p:nvSpPr>
        <p:spPr>
          <a:xfrm>
            <a:off x="161742" y="785353"/>
            <a:ext cx="1259413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/ Source: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UPI (PhonePe UPI Transaction Data )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Produced: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&amp; Payment Logs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Transaction ID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Sender ID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Beneficiary ID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Amount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Transaction Time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Transaction Status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Debit Status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Credit Status 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Main Data Problems :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Pending Transactions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Debit may happen before credit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Late Status Updates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Transaction status can change later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Events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Same transaction event may arrive more than once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Failed and reversed payments ----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money may be debited and then reversed, so these must not count as completed revenue.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accurate transaction and payment analytics from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Phonepe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UPI transaction data.</a:t>
            </a:r>
          </a:p>
        </p:txBody>
      </p:sp>
    </p:spTree>
    <p:extLst>
      <p:ext uri="{BB962C8B-B14F-4D97-AF65-F5344CB8AC3E}">
        <p14:creationId xmlns:p14="http://schemas.microsoft.com/office/powerpoint/2010/main" val="1356894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E0E61E-42A2-6E16-09D6-737A3A825015}"/>
              </a:ext>
            </a:extLst>
          </p:cNvPr>
          <p:cNvSpPr txBox="1"/>
          <p:nvPr/>
        </p:nvSpPr>
        <p:spPr>
          <a:xfrm>
            <a:off x="2021036" y="0"/>
            <a:ext cx="8149928" cy="52322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Logical Architecture: UPI &amp; Transaction Analytics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EB8B87-1BD1-557D-5949-8472ED064D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0" r="7537"/>
          <a:stretch>
            <a:fillRect/>
          </a:stretch>
        </p:blipFill>
        <p:spPr>
          <a:xfrm>
            <a:off x="4042072" y="1280160"/>
            <a:ext cx="8149928" cy="526360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5443E20-3629-4C6E-6420-3AE20F12D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050530"/>
              </p:ext>
            </p:extLst>
          </p:nvPr>
        </p:nvGraphicFramePr>
        <p:xfrm>
          <a:off x="47456" y="1280160"/>
          <a:ext cx="3947160" cy="502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73580">
                  <a:extLst>
                    <a:ext uri="{9D8B030D-6E8A-4147-A177-3AD203B41FA5}">
                      <a16:colId xmlns:a16="http://schemas.microsoft.com/office/drawing/2014/main" val="486049575"/>
                    </a:ext>
                  </a:extLst>
                </a:gridCol>
                <a:gridCol w="1973580">
                  <a:extLst>
                    <a:ext uri="{9D8B030D-6E8A-4147-A177-3AD203B41FA5}">
                      <a16:colId xmlns:a16="http://schemas.microsoft.com/office/drawing/2014/main" val="1717348965"/>
                    </a:ext>
                  </a:extLst>
                </a:gridCol>
              </a:tblGrid>
              <a:tr h="432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Logical Component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Why is this component needed?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468658"/>
                  </a:ext>
                </a:extLst>
              </a:tr>
              <a:tr h="432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UPI Payment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Generates payment transactions.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7510788"/>
                  </a:ext>
                </a:extLst>
              </a:tr>
              <a:tr h="432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Ingestion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Collects transaction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266997"/>
                  </a:ext>
                </a:extLst>
              </a:tr>
              <a:tr h="432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Raw Data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Keeps original records.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7735618"/>
                  </a:ext>
                </a:extLst>
              </a:tr>
              <a:tr h="432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Handles duplicates and status updates.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9173453"/>
                  </a:ext>
                </a:extLst>
              </a:tr>
              <a:tr h="432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Analytical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Stores reliable data for analysis.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5029498"/>
                  </a:ext>
                </a:extLst>
              </a:tr>
              <a:tr h="432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payment reports and insights.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2137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5947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EBDAF4B-B627-1E9A-A36C-F72CE52372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092905"/>
              </p:ext>
            </p:extLst>
          </p:nvPr>
        </p:nvGraphicFramePr>
        <p:xfrm>
          <a:off x="1784232" y="14040"/>
          <a:ext cx="8976851" cy="808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487062E-69E1-F4D9-0DE7-2AFDE11C4B93}"/>
              </a:ext>
            </a:extLst>
          </p:cNvPr>
          <p:cNvSpPr/>
          <p:nvPr/>
        </p:nvSpPr>
        <p:spPr>
          <a:xfrm>
            <a:off x="815340" y="1104900"/>
            <a:ext cx="2453640" cy="6019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PhonePe UPI Transaction Logs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6067B4-C03F-8B44-6752-98A8124738CF}"/>
              </a:ext>
            </a:extLst>
          </p:cNvPr>
          <p:cNvSpPr/>
          <p:nvPr/>
        </p:nvSpPr>
        <p:spPr>
          <a:xfrm>
            <a:off x="548640" y="2232659"/>
            <a:ext cx="2987040" cy="548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/ API Extraction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894A54-6098-5F34-6EFE-9D3D7DF8E921}"/>
              </a:ext>
            </a:extLst>
          </p:cNvPr>
          <p:cNvSpPr/>
          <p:nvPr/>
        </p:nvSpPr>
        <p:spPr>
          <a:xfrm>
            <a:off x="198120" y="3192779"/>
            <a:ext cx="4008120" cy="8686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Object Storage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10B311-59ED-20CA-3D07-5ECB175FCACB}"/>
              </a:ext>
            </a:extLst>
          </p:cNvPr>
          <p:cNvSpPr/>
          <p:nvPr/>
        </p:nvSpPr>
        <p:spPr>
          <a:xfrm>
            <a:off x="998220" y="4419597"/>
            <a:ext cx="2407920" cy="7315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+ Pandas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E00B07-9D0B-BCE0-AE74-01FD90FF716F}"/>
              </a:ext>
            </a:extLst>
          </p:cNvPr>
          <p:cNvSpPr/>
          <p:nvPr/>
        </p:nvSpPr>
        <p:spPr>
          <a:xfrm>
            <a:off x="1342272" y="6400799"/>
            <a:ext cx="1903848" cy="4114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C1AE67-1874-EA63-3B1E-1BF3637A8C83}"/>
              </a:ext>
            </a:extLst>
          </p:cNvPr>
          <p:cNvSpPr/>
          <p:nvPr/>
        </p:nvSpPr>
        <p:spPr>
          <a:xfrm>
            <a:off x="198120" y="5433054"/>
            <a:ext cx="4008120" cy="655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5CA4603-F4EA-2377-9A38-ED08921673BB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2042160" y="1706882"/>
            <a:ext cx="0" cy="5257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245F58-C2FD-AD03-1F23-111634FF73ED}"/>
              </a:ext>
            </a:extLst>
          </p:cNvPr>
          <p:cNvCxnSpPr>
            <a:stCxn id="5" idx="2"/>
          </p:cNvCxnSpPr>
          <p:nvPr/>
        </p:nvCxnSpPr>
        <p:spPr>
          <a:xfrm>
            <a:off x="2042160" y="2781299"/>
            <a:ext cx="0" cy="4114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9AFFE9B-1317-5BBE-E31D-5D7A168FCAE0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2202180" y="4061460"/>
            <a:ext cx="0" cy="3581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0BF353-02A2-7D61-2F93-D09CAE843210}"/>
              </a:ext>
            </a:extLst>
          </p:cNvPr>
          <p:cNvCxnSpPr>
            <a:stCxn id="7" idx="2"/>
            <a:endCxn id="9" idx="0"/>
          </p:cNvCxnSpPr>
          <p:nvPr/>
        </p:nvCxnSpPr>
        <p:spPr>
          <a:xfrm>
            <a:off x="2202180" y="5151117"/>
            <a:ext cx="0" cy="2819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C3BBAB0-32CC-4FD0-BA35-2CBC7B24545A}"/>
              </a:ext>
            </a:extLst>
          </p:cNvPr>
          <p:cNvCxnSpPr>
            <a:stCxn id="9" idx="2"/>
          </p:cNvCxnSpPr>
          <p:nvPr/>
        </p:nvCxnSpPr>
        <p:spPr>
          <a:xfrm>
            <a:off x="2202180" y="6088374"/>
            <a:ext cx="0" cy="3124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924BA692-F6EE-0C06-4086-2838F8777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415590"/>
              </p:ext>
            </p:extLst>
          </p:nvPr>
        </p:nvGraphicFramePr>
        <p:xfrm>
          <a:off x="5135882" y="1501139"/>
          <a:ext cx="704088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0440">
                  <a:extLst>
                    <a:ext uri="{9D8B030D-6E8A-4147-A177-3AD203B41FA5}">
                      <a16:colId xmlns:a16="http://schemas.microsoft.com/office/drawing/2014/main" val="394088509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3378910617"/>
                    </a:ext>
                  </a:extLst>
                </a:gridCol>
              </a:tblGrid>
              <a:tr h="235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Logical Component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Technology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082546"/>
                  </a:ext>
                </a:extLst>
              </a:tr>
              <a:tr h="235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PhonePe UPI Transaction Logs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5804077"/>
                  </a:ext>
                </a:extLst>
              </a:tr>
              <a:tr h="235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Ingestion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/ API Extraction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4384546"/>
                  </a:ext>
                </a:extLst>
              </a:tr>
              <a:tr h="235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Raw Data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Object Storage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463223"/>
                  </a:ext>
                </a:extLst>
              </a:tr>
              <a:tr h="235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+ Pandas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0703396"/>
                  </a:ext>
                </a:extLst>
              </a:tr>
              <a:tr h="235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Analytical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1930019"/>
                  </a:ext>
                </a:extLst>
              </a:tr>
              <a:tr h="235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Consumer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BI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93391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A9DE985-98F0-8570-A30E-501B9AC7EB38}"/>
              </a:ext>
            </a:extLst>
          </p:cNvPr>
          <p:cNvSpPr txBox="1"/>
          <p:nvPr/>
        </p:nvSpPr>
        <p:spPr>
          <a:xfrm>
            <a:off x="7179683" y="100845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Logical → Technology Mapping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7D17D3-97D8-20C1-8ADC-263297554E1E}"/>
              </a:ext>
            </a:extLst>
          </p:cNvPr>
          <p:cNvSpPr txBox="1"/>
          <p:nvPr/>
        </p:nvSpPr>
        <p:spPr>
          <a:xfrm>
            <a:off x="5151120" y="4369474"/>
            <a:ext cx="66217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these technologies?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PhonePe Logs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Provides transaction 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/ API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Collects transaction records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Object Storage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Stores raw 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+ Pandas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Cleans and processes 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Stores processed 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Creates transaction reports and dashboards</a:t>
            </a:r>
          </a:p>
        </p:txBody>
      </p:sp>
    </p:spTree>
    <p:extLst>
      <p:ext uri="{BB962C8B-B14F-4D97-AF65-F5344CB8AC3E}">
        <p14:creationId xmlns:p14="http://schemas.microsoft.com/office/powerpoint/2010/main" val="4223367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EA4102-4648-FAB8-7B6E-5F11C508E0A6}"/>
              </a:ext>
            </a:extLst>
          </p:cNvPr>
          <p:cNvSpPr txBox="1"/>
          <p:nvPr/>
        </p:nvSpPr>
        <p:spPr>
          <a:xfrm>
            <a:off x="1965960" y="-4197"/>
            <a:ext cx="8564880" cy="707886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sz="4000" kern="100" spc="-100" dirty="0">
                <a:solidFill>
                  <a:schemeClr val="bg1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      Each component has a specific job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lowchart: Off-page Connector 3">
            <a:extLst>
              <a:ext uri="{FF2B5EF4-FFF2-40B4-BE49-F238E27FC236}">
                <a16:creationId xmlns:a16="http://schemas.microsoft.com/office/drawing/2014/main" id="{B14A5590-04A9-D786-B33F-2610187F567B}"/>
              </a:ext>
            </a:extLst>
          </p:cNvPr>
          <p:cNvSpPr/>
          <p:nvPr/>
        </p:nvSpPr>
        <p:spPr>
          <a:xfrm>
            <a:off x="190504" y="1126986"/>
            <a:ext cx="1996441" cy="2773680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UPI PAYMENT SYSTEM</a:t>
            </a:r>
          </a:p>
          <a:p>
            <a:pPr algn="ctr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Creates payment transaction data.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lowchart: Off-page Connector 4">
            <a:extLst>
              <a:ext uri="{FF2B5EF4-FFF2-40B4-BE49-F238E27FC236}">
                <a16:creationId xmlns:a16="http://schemas.microsoft.com/office/drawing/2014/main" id="{93CF39D0-C2A6-5EAC-A537-6CCAC8026422}"/>
              </a:ext>
            </a:extLst>
          </p:cNvPr>
          <p:cNvSpPr/>
          <p:nvPr/>
        </p:nvSpPr>
        <p:spPr>
          <a:xfrm>
            <a:off x="2400301" y="3619500"/>
            <a:ext cx="1996440" cy="3063240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</a:t>
            </a:r>
          </a:p>
          <a:p>
            <a:pPr algn="ctr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Collects transaction records</a:t>
            </a:r>
          </a:p>
        </p:txBody>
      </p:sp>
      <p:sp>
        <p:nvSpPr>
          <p:cNvPr id="6" name="Flowchart: Off-page Connector 5">
            <a:extLst>
              <a:ext uri="{FF2B5EF4-FFF2-40B4-BE49-F238E27FC236}">
                <a16:creationId xmlns:a16="http://schemas.microsoft.com/office/drawing/2014/main" id="{F4FA7E85-02EC-4ADB-C35E-9E6B13EDCBE7}"/>
              </a:ext>
            </a:extLst>
          </p:cNvPr>
          <p:cNvSpPr/>
          <p:nvPr/>
        </p:nvSpPr>
        <p:spPr>
          <a:xfrm>
            <a:off x="4579615" y="960120"/>
            <a:ext cx="1851666" cy="2773680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DATA STORAGE</a:t>
            </a:r>
          </a:p>
          <a:p>
            <a:pPr algn="ctr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Preserve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original transaction records.</a:t>
            </a:r>
          </a:p>
        </p:txBody>
      </p:sp>
      <p:sp>
        <p:nvSpPr>
          <p:cNvPr id="7" name="Flowchart: Off-page Connector 6">
            <a:extLst>
              <a:ext uri="{FF2B5EF4-FFF2-40B4-BE49-F238E27FC236}">
                <a16:creationId xmlns:a16="http://schemas.microsoft.com/office/drawing/2014/main" id="{B27E8BD7-850B-97EE-F980-70B6981701D5}"/>
              </a:ext>
            </a:extLst>
          </p:cNvPr>
          <p:cNvSpPr/>
          <p:nvPr/>
        </p:nvSpPr>
        <p:spPr>
          <a:xfrm>
            <a:off x="6530343" y="3619500"/>
            <a:ext cx="1996440" cy="3238500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</a:p>
          <a:p>
            <a:pPr algn="ctr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Refine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Deduplicates and handles status updates.</a:t>
            </a:r>
          </a:p>
        </p:txBody>
      </p:sp>
      <p:sp>
        <p:nvSpPr>
          <p:cNvPr id="8" name="Flowchart: Off-page Connector 7">
            <a:extLst>
              <a:ext uri="{FF2B5EF4-FFF2-40B4-BE49-F238E27FC236}">
                <a16:creationId xmlns:a16="http://schemas.microsoft.com/office/drawing/2014/main" id="{9E857B38-18A2-B1B7-5F28-885711E049FF}"/>
              </a:ext>
            </a:extLst>
          </p:cNvPr>
          <p:cNvSpPr/>
          <p:nvPr/>
        </p:nvSpPr>
        <p:spPr>
          <a:xfrm>
            <a:off x="8526783" y="960120"/>
            <a:ext cx="1851665" cy="2773680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 STORAGE</a:t>
            </a:r>
          </a:p>
          <a:p>
            <a:pPr algn="ctr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Prepare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reliable data for analysis.</a:t>
            </a:r>
          </a:p>
        </p:txBody>
      </p:sp>
      <p:sp>
        <p:nvSpPr>
          <p:cNvPr id="9" name="Flowchart: Off-page Connector 8">
            <a:extLst>
              <a:ext uri="{FF2B5EF4-FFF2-40B4-BE49-F238E27FC236}">
                <a16:creationId xmlns:a16="http://schemas.microsoft.com/office/drawing/2014/main" id="{BC825936-9F90-A77A-14E4-499366F68A43}"/>
              </a:ext>
            </a:extLst>
          </p:cNvPr>
          <p:cNvSpPr/>
          <p:nvPr/>
        </p:nvSpPr>
        <p:spPr>
          <a:xfrm>
            <a:off x="10149831" y="3733800"/>
            <a:ext cx="1851665" cy="3124200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 ANALYTICS</a:t>
            </a:r>
          </a:p>
          <a:p>
            <a:pPr algn="ctr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reports, dashboards &amp; insights.</a:t>
            </a:r>
          </a:p>
        </p:txBody>
      </p:sp>
    </p:spTree>
    <p:extLst>
      <p:ext uri="{BB962C8B-B14F-4D97-AF65-F5344CB8AC3E}">
        <p14:creationId xmlns:p14="http://schemas.microsoft.com/office/powerpoint/2010/main" val="2591593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ADA4BD-8B0C-B67C-E409-4DF8DB5BD945}"/>
              </a:ext>
            </a:extLst>
          </p:cNvPr>
          <p:cNvSpPr txBox="1"/>
          <p:nvPr/>
        </p:nvSpPr>
        <p:spPr>
          <a:xfrm>
            <a:off x="3526420" y="115746"/>
            <a:ext cx="5139159" cy="369332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Architecture / Data Flow Explanation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5A1082-454C-BD0F-2A46-77A65DFA2E0D}"/>
              </a:ext>
            </a:extLst>
          </p:cNvPr>
          <p:cNvSpPr txBox="1"/>
          <p:nvPr/>
        </p:nvSpPr>
        <p:spPr>
          <a:xfrm>
            <a:off x="2792392" y="1156177"/>
            <a:ext cx="760167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2: UPI / PhonePe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UPI Payment System → Data Ingestion: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Payment events enter the pipeline.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 → Raw Storage: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Original events are retained.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Storage → Processing: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Transactions are checked and reconciled.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→ Analytical Storage: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Verified results are prepared for analysis.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Storage → Payment Analytics: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 support payment reports.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 → Collect → Preserve → Reconcile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535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27ED0B-55B5-775F-58A1-E0E642A4BB6E}"/>
              </a:ext>
            </a:extLst>
          </p:cNvPr>
          <p:cNvSpPr txBox="1"/>
          <p:nvPr/>
        </p:nvSpPr>
        <p:spPr>
          <a:xfrm>
            <a:off x="3048001" y="0"/>
            <a:ext cx="6882063" cy="461665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Research &amp; Design Decisions: UPI / PhonePe</a:t>
            </a:r>
            <a:endParaRPr lang="en-IN" sz="24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80D8A9-3391-8148-30C6-CB383908CB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639172"/>
              </p:ext>
            </p:extLst>
          </p:nvPr>
        </p:nvGraphicFramePr>
        <p:xfrm>
          <a:off x="1203158" y="1235242"/>
          <a:ext cx="10503567" cy="48386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1189">
                  <a:extLst>
                    <a:ext uri="{9D8B030D-6E8A-4147-A177-3AD203B41FA5}">
                      <a16:colId xmlns:a16="http://schemas.microsoft.com/office/drawing/2014/main" val="1440385293"/>
                    </a:ext>
                  </a:extLst>
                </a:gridCol>
                <a:gridCol w="3501189">
                  <a:extLst>
                    <a:ext uri="{9D8B030D-6E8A-4147-A177-3AD203B41FA5}">
                      <a16:colId xmlns:a16="http://schemas.microsoft.com/office/drawing/2014/main" val="2958052075"/>
                    </a:ext>
                  </a:extLst>
                </a:gridCol>
                <a:gridCol w="3501189">
                  <a:extLst>
                    <a:ext uri="{9D8B030D-6E8A-4147-A177-3AD203B41FA5}">
                      <a16:colId xmlns:a16="http://schemas.microsoft.com/office/drawing/2014/main" val="2393626672"/>
                    </a:ext>
                  </a:extLst>
                </a:gridCol>
              </a:tblGrid>
              <a:tr h="604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I found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Decision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585178"/>
                  </a:ext>
                </a:extLst>
              </a:tr>
              <a:tr h="1572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NPCI UPI FAQ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transaction can remain pending even after the account is debited.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Added Pending/Debit/Credit status tracking.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6628848"/>
                  </a:ext>
                </a:extLst>
              </a:tr>
              <a:tr h="1088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PhonePe UPI 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Pending transactions may receive a later final status.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Added late-status update handling.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2455670"/>
                  </a:ext>
                </a:extLst>
              </a:tr>
              <a:tr h="1572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NPCI Transaction Settlement Lifecycle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UPI transactions follow a transaction and settlement process.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Added reconciliation during data processing.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3494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6326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D0EAAB-FBD5-2FD7-EFB3-CD5D352FC05E}"/>
              </a:ext>
            </a:extLst>
          </p:cNvPr>
          <p:cNvSpPr txBox="1"/>
          <p:nvPr/>
        </p:nvSpPr>
        <p:spPr>
          <a:xfrm>
            <a:off x="3996160" y="1410820"/>
            <a:ext cx="609407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we handle pending transactions?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status changes until the transaction is resolved.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keep raw transaction data?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reprocessing and verification.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we avoid duplicate transactions?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duplicate transaction events.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we handle debit-credit mismatch?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Reconcile debit and credit status.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process transactions before analytics?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accurate payment insights.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51B22A-6C12-3364-6B01-2D53F1B23BEF}"/>
              </a:ext>
            </a:extLst>
          </p:cNvPr>
          <p:cNvSpPr txBox="1"/>
          <p:nvPr/>
        </p:nvSpPr>
        <p:spPr>
          <a:xfrm>
            <a:off x="4574895" y="527175"/>
            <a:ext cx="2624558" cy="369332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1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Log</a:t>
            </a:r>
          </a:p>
        </p:txBody>
      </p:sp>
    </p:spTree>
    <p:extLst>
      <p:ext uri="{BB962C8B-B14F-4D97-AF65-F5344CB8AC3E}">
        <p14:creationId xmlns:p14="http://schemas.microsoft.com/office/powerpoint/2010/main" val="2506619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433</TotalTime>
  <Words>1240</Words>
  <Application>Microsoft Office PowerPoint</Application>
  <PresentationFormat>Widescreen</PresentationFormat>
  <Paragraphs>230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 charan</dc:creator>
  <cp:lastModifiedBy>shaik charan</cp:lastModifiedBy>
  <cp:revision>4</cp:revision>
  <dcterms:created xsi:type="dcterms:W3CDTF">2026-10-04T19:20:41Z</dcterms:created>
  <dcterms:modified xsi:type="dcterms:W3CDTF">2026-10-08T13:09:32Z</dcterms:modified>
</cp:coreProperties>
</file>